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</p:sldIdLst>
  <p:sldSz cx="18288000" cy="10287000"/>
  <p:notesSz cx="6858000" cy="9144000"/>
  <p:embeddedFontLst>
    <p:embeddedFont>
      <p:font typeface="Codec Pro" panose="020B0604020202020204" charset="0"/>
      <p:regular r:id="rId13"/>
    </p:embeddedFont>
    <p:embeddedFont>
      <p:font typeface="Codec Pro Bold" panose="020B0604020202020204" charset="0"/>
      <p:regular r:id="rId14"/>
    </p:embeddedFont>
    <p:embeddedFont>
      <p:font typeface="TT Drug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sv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3.svg"/><Relationship Id="rId10" Type="http://schemas.openxmlformats.org/officeDocument/2006/relationships/image" Target="../media/image19.png"/><Relationship Id="rId4" Type="http://schemas.openxmlformats.org/officeDocument/2006/relationships/image" Target="../media/image2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5400000">
            <a:off x="11425296" y="-2726073"/>
            <a:ext cx="5083136" cy="10166272"/>
          </a:xfrm>
          <a:custGeom>
            <a:avLst/>
            <a:gdLst/>
            <a:ahLst/>
            <a:cxnLst/>
            <a:rect l="l" t="t" r="r" b="b"/>
            <a:pathLst>
              <a:path w="5083136" h="10166272">
                <a:moveTo>
                  <a:pt x="0" y="0"/>
                </a:moveTo>
                <a:lnTo>
                  <a:pt x="5083136" y="0"/>
                </a:lnTo>
                <a:lnTo>
                  <a:pt x="5083136" y="10166272"/>
                </a:lnTo>
                <a:lnTo>
                  <a:pt x="0" y="101662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8472858">
            <a:off x="459533" y="6400181"/>
            <a:ext cx="2970557" cy="5941114"/>
          </a:xfrm>
          <a:custGeom>
            <a:avLst/>
            <a:gdLst/>
            <a:ahLst/>
            <a:cxnLst/>
            <a:rect l="l" t="t" r="r" b="b"/>
            <a:pathLst>
              <a:path w="2970557" h="5941114">
                <a:moveTo>
                  <a:pt x="0" y="0"/>
                </a:moveTo>
                <a:lnTo>
                  <a:pt x="2970557" y="0"/>
                </a:lnTo>
                <a:lnTo>
                  <a:pt x="2970557" y="5941114"/>
                </a:lnTo>
                <a:lnTo>
                  <a:pt x="0" y="5941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6303208">
            <a:off x="7954664" y="1028700"/>
            <a:ext cx="712491" cy="712491"/>
          </a:xfrm>
          <a:custGeom>
            <a:avLst/>
            <a:gdLst/>
            <a:ahLst/>
            <a:cxnLst/>
            <a:rect l="l" t="t" r="r" b="b"/>
            <a:pathLst>
              <a:path w="712491" h="712491">
                <a:moveTo>
                  <a:pt x="0" y="0"/>
                </a:moveTo>
                <a:lnTo>
                  <a:pt x="712490" y="0"/>
                </a:lnTo>
                <a:lnTo>
                  <a:pt x="712490" y="712491"/>
                </a:lnTo>
                <a:lnTo>
                  <a:pt x="0" y="71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-732186" y="3091490"/>
            <a:ext cx="18639186" cy="2088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3"/>
              </a:lnSpc>
              <a:spcBef>
                <a:spcPct val="0"/>
              </a:spcBef>
            </a:pPr>
            <a:r>
              <a:rPr lang="en-US" sz="6600" b="1" spc="596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Olist Store</a:t>
            </a:r>
          </a:p>
          <a:p>
            <a:pPr algn="ctr">
              <a:lnSpc>
                <a:spcPts val="8393"/>
              </a:lnSpc>
              <a:spcBef>
                <a:spcPct val="0"/>
              </a:spcBef>
            </a:pPr>
            <a:r>
              <a:rPr lang="en-US" sz="6600" b="1" spc="596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819392" y="-4594784"/>
            <a:ext cx="16041416" cy="11753983"/>
          </a:xfrm>
          <a:custGeom>
            <a:avLst/>
            <a:gdLst/>
            <a:ahLst/>
            <a:cxnLst/>
            <a:rect l="l" t="t" r="r" b="b"/>
            <a:pathLst>
              <a:path w="16041416" h="11753983">
                <a:moveTo>
                  <a:pt x="0" y="0"/>
                </a:moveTo>
                <a:lnTo>
                  <a:pt x="16041416" y="0"/>
                </a:lnTo>
                <a:lnTo>
                  <a:pt x="16041416" y="11753984"/>
                </a:lnTo>
                <a:lnTo>
                  <a:pt x="0" y="11753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12721" y="1531101"/>
            <a:ext cx="15062557" cy="7983155"/>
          </a:xfrm>
          <a:custGeom>
            <a:avLst/>
            <a:gdLst/>
            <a:ahLst/>
            <a:cxnLst/>
            <a:rect l="l" t="t" r="r" b="b"/>
            <a:pathLst>
              <a:path w="15062557" h="7983155">
                <a:moveTo>
                  <a:pt x="0" y="0"/>
                </a:moveTo>
                <a:lnTo>
                  <a:pt x="15062558" y="0"/>
                </a:lnTo>
                <a:lnTo>
                  <a:pt x="15062558" y="7983155"/>
                </a:lnTo>
                <a:lnTo>
                  <a:pt x="0" y="7983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5144368" y="459624"/>
            <a:ext cx="14518137" cy="107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90"/>
              </a:lnSpc>
              <a:spcBef>
                <a:spcPct val="0"/>
              </a:spcBef>
            </a:pPr>
            <a:r>
              <a:rPr lang="en-US" sz="6600" b="1" spc="18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Excel 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4293865" y="6635282"/>
            <a:ext cx="10788095" cy="7904732"/>
          </a:xfrm>
          <a:custGeom>
            <a:avLst/>
            <a:gdLst/>
            <a:ahLst/>
            <a:cxnLst/>
            <a:rect l="l" t="t" r="r" b="b"/>
            <a:pathLst>
              <a:path w="10788095" h="7904732">
                <a:moveTo>
                  <a:pt x="0" y="0"/>
                </a:moveTo>
                <a:lnTo>
                  <a:pt x="10788095" y="0"/>
                </a:lnTo>
                <a:lnTo>
                  <a:pt x="10788095" y="7904731"/>
                </a:lnTo>
                <a:lnTo>
                  <a:pt x="0" y="790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057775" y="-6263190"/>
            <a:ext cx="13978141" cy="10242165"/>
          </a:xfrm>
          <a:custGeom>
            <a:avLst/>
            <a:gdLst/>
            <a:ahLst/>
            <a:cxnLst/>
            <a:rect l="l" t="t" r="r" b="b"/>
            <a:pathLst>
              <a:path w="13978141" h="10242165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510719" y="738551"/>
            <a:ext cx="7060961" cy="244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62"/>
              </a:lnSpc>
            </a:pPr>
            <a:r>
              <a:rPr lang="en-US" sz="7115" b="1" spc="227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Key Insights</a:t>
            </a:r>
          </a:p>
          <a:p>
            <a:pPr marL="0" lvl="0" indent="0" algn="l">
              <a:lnSpc>
                <a:spcPts val="8842"/>
              </a:lnSpc>
              <a:spcBef>
                <a:spcPct val="0"/>
              </a:spcBef>
            </a:pPr>
            <a:endParaRPr lang="en-US" sz="7115" b="1" spc="227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510719" y="2327484"/>
            <a:ext cx="13774900" cy="55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4528" dirty="0">
                <a:solidFill>
                  <a:srgbClr val="EE82EE"/>
                </a:solidFill>
                <a:latin typeface="TT Drugs"/>
                <a:ea typeface="TT Drugs"/>
                <a:cs typeface="TT Drugs"/>
                <a:sym typeface="TT Drugs"/>
              </a:rPr>
              <a:t>• Faster deliveries = Better reviews (clear positive correlation).</a:t>
            </a:r>
          </a:p>
          <a:p>
            <a:pPr algn="l">
              <a:lnSpc>
                <a:spcPts val="6339"/>
              </a:lnSpc>
            </a:pPr>
            <a:r>
              <a:rPr lang="en-US" sz="4528" dirty="0">
                <a:solidFill>
                  <a:srgbClr val="EE82EE"/>
                </a:solidFill>
                <a:latin typeface="TT Drugs"/>
                <a:ea typeface="TT Drugs"/>
                <a:cs typeface="TT Drugs"/>
                <a:sym typeface="TT Drugs"/>
              </a:rPr>
              <a:t>• Pet Shop has longer delivery days, indicating a      issue.</a:t>
            </a:r>
          </a:p>
          <a:p>
            <a:pPr algn="l">
              <a:lnSpc>
                <a:spcPts val="6339"/>
              </a:lnSpc>
            </a:pPr>
            <a:r>
              <a:rPr lang="en-US" sz="4528" dirty="0">
                <a:solidFill>
                  <a:srgbClr val="EE82EE"/>
                </a:solidFill>
                <a:latin typeface="TT Drugs"/>
                <a:ea typeface="TT Drugs"/>
                <a:cs typeface="TT Drugs"/>
                <a:sym typeface="TT Drugs"/>
              </a:rPr>
              <a:t>• Credit card payments mostly linked to Review Score 5 customers.</a:t>
            </a:r>
          </a:p>
          <a:p>
            <a:pPr algn="l">
              <a:lnSpc>
                <a:spcPts val="6339"/>
              </a:lnSpc>
            </a:pPr>
            <a:endParaRPr lang="en-US" sz="4528" dirty="0">
              <a:solidFill>
                <a:srgbClr val="EE82EE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7259833">
            <a:off x="15277502" y="8889260"/>
            <a:ext cx="4053440" cy="2067254"/>
          </a:xfrm>
          <a:custGeom>
            <a:avLst/>
            <a:gdLst/>
            <a:ahLst/>
            <a:cxnLst/>
            <a:rect l="l" t="t" r="r" b="b"/>
            <a:pathLst>
              <a:path w="4053440" h="2067254">
                <a:moveTo>
                  <a:pt x="0" y="0"/>
                </a:moveTo>
                <a:lnTo>
                  <a:pt x="4053439" y="0"/>
                </a:lnTo>
                <a:lnTo>
                  <a:pt x="4053439" y="2067255"/>
                </a:lnTo>
                <a:lnTo>
                  <a:pt x="0" y="2067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3143206">
            <a:off x="14095662" y="-2479950"/>
            <a:ext cx="3975947" cy="7951895"/>
          </a:xfrm>
          <a:custGeom>
            <a:avLst/>
            <a:gdLst/>
            <a:ahLst/>
            <a:cxnLst/>
            <a:rect l="l" t="t" r="r" b="b"/>
            <a:pathLst>
              <a:path w="3975947" h="7951895">
                <a:moveTo>
                  <a:pt x="0" y="0"/>
                </a:moveTo>
                <a:lnTo>
                  <a:pt x="3975947" y="0"/>
                </a:lnTo>
                <a:lnTo>
                  <a:pt x="3975947" y="7951895"/>
                </a:lnTo>
                <a:lnTo>
                  <a:pt x="0" y="7951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301088" y="1878345"/>
            <a:ext cx="15154846" cy="7728971"/>
          </a:xfrm>
          <a:custGeom>
            <a:avLst/>
            <a:gdLst/>
            <a:ahLst/>
            <a:cxnLst/>
            <a:rect l="l" t="t" r="r" b="b"/>
            <a:pathLst>
              <a:path w="15154846" h="7728971">
                <a:moveTo>
                  <a:pt x="0" y="0"/>
                </a:moveTo>
                <a:lnTo>
                  <a:pt x="15154846" y="0"/>
                </a:lnTo>
                <a:lnTo>
                  <a:pt x="15154846" y="7728972"/>
                </a:lnTo>
                <a:lnTo>
                  <a:pt x="0" y="7728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8956893" y="4642603"/>
            <a:ext cx="374213" cy="74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4"/>
              </a:lnSpc>
              <a:spcBef>
                <a:spcPct val="0"/>
              </a:spcBef>
            </a:pPr>
            <a:endParaRPr lang="en-US" sz="4510" spc="442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94668" y="424520"/>
            <a:ext cx="14518137" cy="107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90"/>
              </a:lnSpc>
              <a:spcBef>
                <a:spcPct val="0"/>
              </a:spcBef>
            </a:pPr>
            <a:r>
              <a:rPr lang="en-US" sz="6600" b="1" spc="18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Tableau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8880508" cy="8880508"/>
          </a:xfrm>
          <a:custGeom>
            <a:avLst/>
            <a:gdLst/>
            <a:ahLst/>
            <a:cxnLst/>
            <a:rect l="l" t="t" r="r" b="b"/>
            <a:pathLst>
              <a:path w="8880508" h="8880508">
                <a:moveTo>
                  <a:pt x="0" y="0"/>
                </a:moveTo>
                <a:lnTo>
                  <a:pt x="8880508" y="0"/>
                </a:lnTo>
                <a:lnTo>
                  <a:pt x="8880508" y="8880508"/>
                </a:lnTo>
                <a:lnTo>
                  <a:pt x="0" y="8880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8685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3416524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7571391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1726259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2543212" y="8363166"/>
            <a:ext cx="4618008" cy="4618008"/>
          </a:xfrm>
          <a:custGeom>
            <a:avLst/>
            <a:gdLst/>
            <a:ahLst/>
            <a:cxnLst/>
            <a:rect l="l" t="t" r="r" b="b"/>
            <a:pathLst>
              <a:path w="4618008" h="4618008">
                <a:moveTo>
                  <a:pt x="0" y="0"/>
                </a:moveTo>
                <a:lnTo>
                  <a:pt x="4618008" y="0"/>
                </a:lnTo>
                <a:lnTo>
                  <a:pt x="4618008" y="4618008"/>
                </a:lnTo>
                <a:lnTo>
                  <a:pt x="0" y="461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4651822" y="7473446"/>
            <a:ext cx="6214132" cy="6214132"/>
          </a:xfrm>
          <a:custGeom>
            <a:avLst/>
            <a:gdLst/>
            <a:ahLst/>
            <a:cxnLst/>
            <a:rect l="l" t="t" r="r" b="b"/>
            <a:pathLst>
              <a:path w="6214132" h="6214132">
                <a:moveTo>
                  <a:pt x="0" y="0"/>
                </a:moveTo>
                <a:lnTo>
                  <a:pt x="6214132" y="0"/>
                </a:lnTo>
                <a:lnTo>
                  <a:pt x="6214132" y="6214132"/>
                </a:lnTo>
                <a:lnTo>
                  <a:pt x="0" y="6214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40929" y="6525371"/>
            <a:ext cx="616771" cy="616771"/>
          </a:xfrm>
          <a:custGeom>
            <a:avLst/>
            <a:gdLst/>
            <a:ahLst/>
            <a:cxnLst/>
            <a:rect l="l" t="t" r="r" b="b"/>
            <a:pathLst>
              <a:path w="616771" h="616771">
                <a:moveTo>
                  <a:pt x="0" y="0"/>
                </a:moveTo>
                <a:lnTo>
                  <a:pt x="616771" y="0"/>
                </a:lnTo>
                <a:lnTo>
                  <a:pt x="616771" y="616770"/>
                </a:lnTo>
                <a:lnTo>
                  <a:pt x="0" y="616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263492" y="527803"/>
            <a:ext cx="8880508" cy="94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52"/>
              </a:lnSpc>
              <a:spcBef>
                <a:spcPct val="0"/>
              </a:spcBef>
            </a:pPr>
            <a:r>
              <a:rPr lang="en-US" sz="5110" spc="5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Top 3 Key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0640" y="2889417"/>
            <a:ext cx="16267580" cy="620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9295" lvl="1" indent="-514647" algn="l">
              <a:lnSpc>
                <a:spcPts val="6579"/>
              </a:lnSpc>
              <a:buFont typeface="Arial"/>
              <a:buChar char="•"/>
            </a:pPr>
            <a:r>
              <a:rPr lang="en-US" sz="4767" spc="467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High sales: 99K orders and strong total revenue.</a:t>
            </a:r>
          </a:p>
          <a:p>
            <a:pPr marL="1029295" lvl="1" indent="-514647" algn="l">
              <a:lnSpc>
                <a:spcPts val="6579"/>
              </a:lnSpc>
              <a:buFont typeface="Arial"/>
              <a:buChar char="•"/>
            </a:pPr>
            <a:r>
              <a:rPr lang="en-US" sz="4767" spc="467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Top products dominate: A few categories generate most sales.</a:t>
            </a:r>
          </a:p>
          <a:p>
            <a:pPr marL="1141158" lvl="1" indent="-570579" algn="l">
              <a:lnSpc>
                <a:spcPts val="7294"/>
              </a:lnSpc>
              <a:buFont typeface="Arial"/>
              <a:buChar char="•"/>
            </a:pPr>
            <a:r>
              <a:rPr lang="en-US" sz="5285" spc="517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Delivery performance strong: 89% orders delivered before time.</a:t>
            </a:r>
          </a:p>
          <a:p>
            <a:pPr algn="l">
              <a:lnSpc>
                <a:spcPts val="8036"/>
              </a:lnSpc>
              <a:spcBef>
                <a:spcPct val="0"/>
              </a:spcBef>
            </a:pPr>
            <a:endParaRPr lang="en-US" sz="5285" spc="517">
              <a:solidFill>
                <a:srgbClr val="EE82EE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9718725" y="1717725"/>
            <a:ext cx="8569275" cy="8569275"/>
          </a:xfrm>
          <a:custGeom>
            <a:avLst/>
            <a:gdLst/>
            <a:ahLst/>
            <a:cxnLst/>
            <a:rect l="l" t="t" r="r" b="b"/>
            <a:pathLst>
              <a:path w="8569275" h="8569275">
                <a:moveTo>
                  <a:pt x="0" y="0"/>
                </a:moveTo>
                <a:lnTo>
                  <a:pt x="8569275" y="0"/>
                </a:lnTo>
                <a:lnTo>
                  <a:pt x="8569275" y="8569275"/>
                </a:lnTo>
                <a:lnTo>
                  <a:pt x="0" y="8569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488219">
            <a:off x="-1751722" y="5533283"/>
            <a:ext cx="4704064" cy="4704064"/>
          </a:xfrm>
          <a:custGeom>
            <a:avLst/>
            <a:gdLst/>
            <a:ahLst/>
            <a:cxnLst/>
            <a:rect l="l" t="t" r="r" b="b"/>
            <a:pathLst>
              <a:path w="4704064" h="4704064">
                <a:moveTo>
                  <a:pt x="0" y="0"/>
                </a:moveTo>
                <a:lnTo>
                  <a:pt x="4704065" y="0"/>
                </a:lnTo>
                <a:lnTo>
                  <a:pt x="4704065" y="4704064"/>
                </a:lnTo>
                <a:lnTo>
                  <a:pt x="0" y="4704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771319" y="1646077"/>
            <a:ext cx="15894810" cy="8640923"/>
          </a:xfrm>
          <a:custGeom>
            <a:avLst/>
            <a:gdLst/>
            <a:ahLst/>
            <a:cxnLst/>
            <a:rect l="l" t="t" r="r" b="b"/>
            <a:pathLst>
              <a:path w="15894810" h="8640923">
                <a:moveTo>
                  <a:pt x="0" y="0"/>
                </a:moveTo>
                <a:lnTo>
                  <a:pt x="15894811" y="0"/>
                </a:lnTo>
                <a:lnTo>
                  <a:pt x="15894811" y="8640923"/>
                </a:lnTo>
                <a:lnTo>
                  <a:pt x="0" y="8640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999" r="-1990" b="-29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155697" y="459624"/>
            <a:ext cx="14518137" cy="107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90"/>
              </a:lnSpc>
              <a:spcBef>
                <a:spcPct val="0"/>
              </a:spcBef>
            </a:pPr>
            <a:r>
              <a:rPr lang="en-US" sz="6600" b="1" spc="18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Power BI Sales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8880508" cy="8880508"/>
          </a:xfrm>
          <a:custGeom>
            <a:avLst/>
            <a:gdLst/>
            <a:ahLst/>
            <a:cxnLst/>
            <a:rect l="l" t="t" r="r" b="b"/>
            <a:pathLst>
              <a:path w="8880508" h="8880508">
                <a:moveTo>
                  <a:pt x="0" y="0"/>
                </a:moveTo>
                <a:lnTo>
                  <a:pt x="8880508" y="0"/>
                </a:lnTo>
                <a:lnTo>
                  <a:pt x="8880508" y="8880508"/>
                </a:lnTo>
                <a:lnTo>
                  <a:pt x="0" y="8880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8685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3416524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7571391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1726259" y="803008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49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2543212" y="8363166"/>
            <a:ext cx="4618008" cy="4618008"/>
          </a:xfrm>
          <a:custGeom>
            <a:avLst/>
            <a:gdLst/>
            <a:ahLst/>
            <a:cxnLst/>
            <a:rect l="l" t="t" r="r" b="b"/>
            <a:pathLst>
              <a:path w="4618008" h="4618008">
                <a:moveTo>
                  <a:pt x="0" y="0"/>
                </a:moveTo>
                <a:lnTo>
                  <a:pt x="4618008" y="0"/>
                </a:lnTo>
                <a:lnTo>
                  <a:pt x="4618008" y="4618008"/>
                </a:lnTo>
                <a:lnTo>
                  <a:pt x="0" y="461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4651822" y="7473446"/>
            <a:ext cx="6214132" cy="6214132"/>
          </a:xfrm>
          <a:custGeom>
            <a:avLst/>
            <a:gdLst/>
            <a:ahLst/>
            <a:cxnLst/>
            <a:rect l="l" t="t" r="r" b="b"/>
            <a:pathLst>
              <a:path w="6214132" h="6214132">
                <a:moveTo>
                  <a:pt x="0" y="0"/>
                </a:moveTo>
                <a:lnTo>
                  <a:pt x="6214132" y="0"/>
                </a:lnTo>
                <a:lnTo>
                  <a:pt x="6214132" y="6214132"/>
                </a:lnTo>
                <a:lnTo>
                  <a:pt x="0" y="6214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40929" y="6525371"/>
            <a:ext cx="616771" cy="616771"/>
          </a:xfrm>
          <a:custGeom>
            <a:avLst/>
            <a:gdLst/>
            <a:ahLst/>
            <a:cxnLst/>
            <a:rect l="l" t="t" r="r" b="b"/>
            <a:pathLst>
              <a:path w="616771" h="616771">
                <a:moveTo>
                  <a:pt x="0" y="0"/>
                </a:moveTo>
                <a:lnTo>
                  <a:pt x="616771" y="0"/>
                </a:lnTo>
                <a:lnTo>
                  <a:pt x="616771" y="616770"/>
                </a:lnTo>
                <a:lnTo>
                  <a:pt x="0" y="616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546416" y="1068184"/>
            <a:ext cx="8880508" cy="99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6"/>
              </a:lnSpc>
              <a:spcBef>
                <a:spcPct val="0"/>
              </a:spcBef>
            </a:pPr>
            <a:r>
              <a:rPr lang="en-US" sz="5410" b="1" spc="53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Top 3 Key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0640" y="2889417"/>
            <a:ext cx="16267580" cy="5847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9295" lvl="1" indent="-514647" algn="l">
              <a:lnSpc>
                <a:spcPts val="6579"/>
              </a:lnSpc>
              <a:buFont typeface="Arial"/>
              <a:buChar char="•"/>
            </a:pPr>
            <a:r>
              <a:rPr lang="en-US" sz="4767" spc="467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Weekdays generate higher sales than weekends.</a:t>
            </a:r>
          </a:p>
          <a:p>
            <a:pPr marL="1029295" lvl="1" indent="-514647" algn="l">
              <a:lnSpc>
                <a:spcPts val="6579"/>
              </a:lnSpc>
              <a:buFont typeface="Arial"/>
              <a:buChar char="•"/>
            </a:pPr>
            <a:r>
              <a:rPr lang="en-US" sz="4767" spc="467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Top products (beleza_saude, esporte_lazer) contribute most of the revenue.</a:t>
            </a:r>
          </a:p>
          <a:p>
            <a:pPr marL="1029295" lvl="1" indent="-514647" algn="l">
              <a:lnSpc>
                <a:spcPts val="6579"/>
              </a:lnSpc>
              <a:buFont typeface="Arial"/>
              <a:buChar char="•"/>
            </a:pPr>
            <a:r>
              <a:rPr lang="en-US" sz="4767" spc="467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São Paulo is the highest-sales city among all regions.</a:t>
            </a:r>
          </a:p>
          <a:p>
            <a:pPr algn="l">
              <a:lnSpc>
                <a:spcPts val="6579"/>
              </a:lnSpc>
              <a:spcBef>
                <a:spcPct val="0"/>
              </a:spcBef>
            </a:pPr>
            <a:endParaRPr lang="en-US" sz="4767" spc="467">
              <a:solidFill>
                <a:srgbClr val="EE82EE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7259833">
            <a:off x="15277502" y="8889260"/>
            <a:ext cx="4053440" cy="2067254"/>
          </a:xfrm>
          <a:custGeom>
            <a:avLst/>
            <a:gdLst/>
            <a:ahLst/>
            <a:cxnLst/>
            <a:rect l="l" t="t" r="r" b="b"/>
            <a:pathLst>
              <a:path w="4053440" h="2067254">
                <a:moveTo>
                  <a:pt x="0" y="0"/>
                </a:moveTo>
                <a:lnTo>
                  <a:pt x="4053439" y="0"/>
                </a:lnTo>
                <a:lnTo>
                  <a:pt x="4053439" y="2067255"/>
                </a:lnTo>
                <a:lnTo>
                  <a:pt x="0" y="2067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3143206">
            <a:off x="14095662" y="-2479950"/>
            <a:ext cx="3975947" cy="7951895"/>
          </a:xfrm>
          <a:custGeom>
            <a:avLst/>
            <a:gdLst/>
            <a:ahLst/>
            <a:cxnLst/>
            <a:rect l="l" t="t" r="r" b="b"/>
            <a:pathLst>
              <a:path w="3975947" h="7951895">
                <a:moveTo>
                  <a:pt x="0" y="0"/>
                </a:moveTo>
                <a:lnTo>
                  <a:pt x="3975947" y="0"/>
                </a:lnTo>
                <a:lnTo>
                  <a:pt x="3975947" y="7951895"/>
                </a:lnTo>
                <a:lnTo>
                  <a:pt x="0" y="7951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9360391">
            <a:off x="-4597476" y="-1009118"/>
            <a:ext cx="7224077" cy="14448154"/>
          </a:xfrm>
          <a:custGeom>
            <a:avLst/>
            <a:gdLst/>
            <a:ahLst/>
            <a:cxnLst/>
            <a:rect l="l" t="t" r="r" b="b"/>
            <a:pathLst>
              <a:path w="7224077" h="14448154">
                <a:moveTo>
                  <a:pt x="0" y="0"/>
                </a:moveTo>
                <a:lnTo>
                  <a:pt x="7224077" y="0"/>
                </a:lnTo>
                <a:lnTo>
                  <a:pt x="7224077" y="14448153"/>
                </a:lnTo>
                <a:lnTo>
                  <a:pt x="0" y="14448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3812006">
            <a:off x="16549897" y="4787797"/>
            <a:ext cx="1508648" cy="1508648"/>
          </a:xfrm>
          <a:custGeom>
            <a:avLst/>
            <a:gdLst/>
            <a:ahLst/>
            <a:cxnLst/>
            <a:rect l="l" t="t" r="r" b="b"/>
            <a:pathLst>
              <a:path w="1508648" h="1508648">
                <a:moveTo>
                  <a:pt x="0" y="0"/>
                </a:moveTo>
                <a:lnTo>
                  <a:pt x="1508649" y="0"/>
                </a:lnTo>
                <a:lnTo>
                  <a:pt x="1508649" y="1508648"/>
                </a:lnTo>
                <a:lnTo>
                  <a:pt x="0" y="1508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425664" y="2238445"/>
            <a:ext cx="8385064" cy="3647503"/>
          </a:xfrm>
          <a:custGeom>
            <a:avLst/>
            <a:gdLst/>
            <a:ahLst/>
            <a:cxnLst/>
            <a:rect l="l" t="t" r="r" b="b"/>
            <a:pathLst>
              <a:path w="8385064" h="3647503">
                <a:moveTo>
                  <a:pt x="0" y="0"/>
                </a:moveTo>
                <a:lnTo>
                  <a:pt x="8385064" y="0"/>
                </a:lnTo>
                <a:lnTo>
                  <a:pt x="8385064" y="3647503"/>
                </a:lnTo>
                <a:lnTo>
                  <a:pt x="0" y="36475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9951897" y="2238445"/>
            <a:ext cx="7583385" cy="3698248"/>
          </a:xfrm>
          <a:custGeom>
            <a:avLst/>
            <a:gdLst/>
            <a:ahLst/>
            <a:cxnLst/>
            <a:rect l="l" t="t" r="r" b="b"/>
            <a:pathLst>
              <a:path w="7583385" h="3698248">
                <a:moveTo>
                  <a:pt x="0" y="0"/>
                </a:moveTo>
                <a:lnTo>
                  <a:pt x="7583385" y="0"/>
                </a:lnTo>
                <a:lnTo>
                  <a:pt x="7583385" y="3698248"/>
                </a:lnTo>
                <a:lnTo>
                  <a:pt x="0" y="36982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607" b="-260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425664" y="6214959"/>
            <a:ext cx="8385064" cy="3672891"/>
          </a:xfrm>
          <a:custGeom>
            <a:avLst/>
            <a:gdLst/>
            <a:ahLst/>
            <a:cxnLst/>
            <a:rect l="l" t="t" r="r" b="b"/>
            <a:pathLst>
              <a:path w="8385064" h="3672891">
                <a:moveTo>
                  <a:pt x="0" y="0"/>
                </a:moveTo>
                <a:lnTo>
                  <a:pt x="8385064" y="0"/>
                </a:lnTo>
                <a:lnTo>
                  <a:pt x="8385064" y="3672890"/>
                </a:lnTo>
                <a:lnTo>
                  <a:pt x="0" y="36728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306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9951897" y="6214959"/>
            <a:ext cx="8107205" cy="1500239"/>
          </a:xfrm>
          <a:custGeom>
            <a:avLst/>
            <a:gdLst/>
            <a:ahLst/>
            <a:cxnLst/>
            <a:rect l="l" t="t" r="r" b="b"/>
            <a:pathLst>
              <a:path w="8107205" h="1500239">
                <a:moveTo>
                  <a:pt x="0" y="0"/>
                </a:moveTo>
                <a:lnTo>
                  <a:pt x="8107206" y="0"/>
                </a:lnTo>
                <a:lnTo>
                  <a:pt x="8107206" y="1500239"/>
                </a:lnTo>
                <a:lnTo>
                  <a:pt x="0" y="15002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461" t="-22410" r="-28673" b="-12241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9951897" y="7806552"/>
            <a:ext cx="2373980" cy="2081297"/>
          </a:xfrm>
          <a:custGeom>
            <a:avLst/>
            <a:gdLst/>
            <a:ahLst/>
            <a:cxnLst/>
            <a:rect l="l" t="t" r="r" b="b"/>
            <a:pathLst>
              <a:path w="2373980" h="2081297">
                <a:moveTo>
                  <a:pt x="0" y="0"/>
                </a:moveTo>
                <a:lnTo>
                  <a:pt x="2373980" y="0"/>
                </a:lnTo>
                <a:lnTo>
                  <a:pt x="2373980" y="2081297"/>
                </a:lnTo>
                <a:lnTo>
                  <a:pt x="0" y="20812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2529500" y="7841590"/>
            <a:ext cx="2428180" cy="2081297"/>
          </a:xfrm>
          <a:custGeom>
            <a:avLst/>
            <a:gdLst/>
            <a:ahLst/>
            <a:cxnLst/>
            <a:rect l="l" t="t" r="r" b="b"/>
            <a:pathLst>
              <a:path w="2428180" h="2081297">
                <a:moveTo>
                  <a:pt x="0" y="0"/>
                </a:moveTo>
                <a:lnTo>
                  <a:pt x="2428180" y="0"/>
                </a:lnTo>
                <a:lnTo>
                  <a:pt x="2428180" y="2081297"/>
                </a:lnTo>
                <a:lnTo>
                  <a:pt x="0" y="2081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5802230" y="504962"/>
            <a:ext cx="7343882" cy="99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78"/>
              </a:lnSpc>
            </a:pPr>
            <a:r>
              <a:rPr lang="en-US" sz="6068" b="1" spc="16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SQL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8880508" cy="8880508"/>
          </a:xfrm>
          <a:custGeom>
            <a:avLst/>
            <a:gdLst/>
            <a:ahLst/>
            <a:cxnLst/>
            <a:rect l="l" t="t" r="r" b="b"/>
            <a:pathLst>
              <a:path w="8880508" h="8880508">
                <a:moveTo>
                  <a:pt x="0" y="0"/>
                </a:moveTo>
                <a:lnTo>
                  <a:pt x="8880508" y="0"/>
                </a:lnTo>
                <a:lnTo>
                  <a:pt x="8880508" y="8880508"/>
                </a:lnTo>
                <a:lnTo>
                  <a:pt x="0" y="8880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456907" y="962025"/>
            <a:ext cx="5322213" cy="10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0"/>
              </a:lnSpc>
              <a:spcBef>
                <a:spcPct val="0"/>
              </a:spcBef>
            </a:pPr>
            <a:r>
              <a:rPr lang="en-US" sz="6600" b="1" spc="18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Key 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80640" y="2889417"/>
            <a:ext cx="14861285" cy="691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0315" lvl="1" indent="-470157" algn="l">
              <a:lnSpc>
                <a:spcPts val="6010"/>
              </a:lnSpc>
              <a:buFont typeface="Arial"/>
              <a:buChar char="•"/>
            </a:pPr>
            <a:r>
              <a:rPr lang="en-US" sz="4355" b="1" spc="426">
                <a:solidFill>
                  <a:srgbClr val="EE82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Temporal Trends: </a:t>
            </a:r>
            <a:r>
              <a:rPr lang="en-US" sz="4355" spc="426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Segment sales by Month, Year, and Weekday/Weekend to find peak selling seasons.</a:t>
            </a:r>
          </a:p>
          <a:p>
            <a:pPr marL="940315" lvl="1" indent="-470157" algn="l">
              <a:lnSpc>
                <a:spcPts val="6010"/>
              </a:lnSpc>
              <a:buFont typeface="Arial"/>
              <a:buChar char="•"/>
            </a:pPr>
            <a:r>
              <a:rPr lang="en-US" sz="4355" b="1" spc="426">
                <a:solidFill>
                  <a:srgbClr val="EE82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Performance Ranking:</a:t>
            </a:r>
            <a:r>
              <a:rPr lang="en-US" sz="4355" spc="426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 Identify Top/Bottom 10 Products and Cities by sales for inventory and marketing strategy.</a:t>
            </a:r>
          </a:p>
          <a:p>
            <a:pPr marL="940315" lvl="1" indent="-470157" algn="l">
              <a:lnSpc>
                <a:spcPts val="6010"/>
              </a:lnSpc>
              <a:buFont typeface="Arial"/>
              <a:buChar char="•"/>
            </a:pPr>
            <a:r>
              <a:rPr lang="en-US" sz="4355" b="1" spc="426">
                <a:solidFill>
                  <a:srgbClr val="EE82EE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Customer Value (CLV):</a:t>
            </a:r>
            <a:r>
              <a:rPr lang="en-US" sz="4355" spc="426">
                <a:solidFill>
                  <a:srgbClr val="EE82EE"/>
                </a:solidFill>
                <a:latin typeface="Codec Pro"/>
                <a:ea typeface="Codec Pro"/>
                <a:cs typeface="Codec Pro"/>
                <a:sym typeface="Codec Pro"/>
              </a:rPr>
              <a:t> Identify the highest-revenue customers to assess lifetime value.</a:t>
            </a:r>
          </a:p>
          <a:p>
            <a:pPr algn="l">
              <a:lnSpc>
                <a:spcPts val="6010"/>
              </a:lnSpc>
              <a:spcBef>
                <a:spcPct val="0"/>
              </a:spcBef>
            </a:pPr>
            <a:endParaRPr lang="en-US" sz="4355" spc="426">
              <a:solidFill>
                <a:srgbClr val="EE82EE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BA13-4EB8-792A-2FA0-76294E4D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0C4720-6E7D-E6BA-A84B-D7552F176490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7DF2738-A357-0EF1-3D76-B353D578DD61}"/>
              </a:ext>
            </a:extLst>
          </p:cNvPr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D1C75F3-1E18-CC9A-C02F-EF40DD33566A}"/>
              </a:ext>
            </a:extLst>
          </p:cNvPr>
          <p:cNvSpPr/>
          <p:nvPr/>
        </p:nvSpPr>
        <p:spPr>
          <a:xfrm>
            <a:off x="15201006" y="-1416307"/>
            <a:ext cx="4116588" cy="3555235"/>
          </a:xfrm>
          <a:custGeom>
            <a:avLst/>
            <a:gdLst/>
            <a:ahLst/>
            <a:cxnLst/>
            <a:rect l="l" t="t" r="r" b="b"/>
            <a:pathLst>
              <a:path w="4116588" h="3555235">
                <a:moveTo>
                  <a:pt x="0" y="0"/>
                </a:moveTo>
                <a:lnTo>
                  <a:pt x="4116588" y="0"/>
                </a:lnTo>
                <a:lnTo>
                  <a:pt x="4116588" y="3555235"/>
                </a:lnTo>
                <a:lnTo>
                  <a:pt x="0" y="3555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A4CFAA9-E061-5129-F7FB-ADB18DEB4F9A}"/>
              </a:ext>
            </a:extLst>
          </p:cNvPr>
          <p:cNvSpPr/>
          <p:nvPr/>
        </p:nvSpPr>
        <p:spPr>
          <a:xfrm>
            <a:off x="12018451" y="434520"/>
            <a:ext cx="4116588" cy="3555235"/>
          </a:xfrm>
          <a:custGeom>
            <a:avLst/>
            <a:gdLst/>
            <a:ahLst/>
            <a:cxnLst/>
            <a:rect l="l" t="t" r="r" b="b"/>
            <a:pathLst>
              <a:path w="4116588" h="3555235">
                <a:moveTo>
                  <a:pt x="0" y="0"/>
                </a:moveTo>
                <a:lnTo>
                  <a:pt x="4116589" y="0"/>
                </a:lnTo>
                <a:lnTo>
                  <a:pt x="4116589" y="3555235"/>
                </a:lnTo>
                <a:lnTo>
                  <a:pt x="0" y="3555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5A80BD2-73D8-EDD4-E1B8-C3834C82EDCB}"/>
              </a:ext>
            </a:extLst>
          </p:cNvPr>
          <p:cNvSpPr/>
          <p:nvPr/>
        </p:nvSpPr>
        <p:spPr>
          <a:xfrm>
            <a:off x="15290018" y="2222330"/>
            <a:ext cx="4116588" cy="3555235"/>
          </a:xfrm>
          <a:custGeom>
            <a:avLst/>
            <a:gdLst/>
            <a:ahLst/>
            <a:cxnLst/>
            <a:rect l="l" t="t" r="r" b="b"/>
            <a:pathLst>
              <a:path w="4116588" h="3555235">
                <a:moveTo>
                  <a:pt x="0" y="0"/>
                </a:moveTo>
                <a:lnTo>
                  <a:pt x="4116588" y="0"/>
                </a:lnTo>
                <a:lnTo>
                  <a:pt x="4116588" y="3555236"/>
                </a:lnTo>
                <a:lnTo>
                  <a:pt x="0" y="3555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48877AC-9792-0649-EF20-DDED0EFF6505}"/>
              </a:ext>
            </a:extLst>
          </p:cNvPr>
          <p:cNvSpPr txBox="1"/>
          <p:nvPr/>
        </p:nvSpPr>
        <p:spPr>
          <a:xfrm>
            <a:off x="1901718" y="802408"/>
            <a:ext cx="8358068" cy="1336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1643"/>
              </a:lnSpc>
              <a:spcBef>
                <a:spcPct val="0"/>
              </a:spcBef>
            </a:pPr>
            <a:r>
              <a:rPr lang="en-US" sz="6600" b="1" spc="283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Recommendations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4D85C2BB-B00B-538D-EB82-F1F55DDCCB6D}"/>
              </a:ext>
            </a:extLst>
          </p:cNvPr>
          <p:cNvSpPr txBox="1"/>
          <p:nvPr/>
        </p:nvSpPr>
        <p:spPr>
          <a:xfrm>
            <a:off x="533400" y="4227559"/>
            <a:ext cx="16154400" cy="463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ts val="397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spc="9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Try to reduce late deliveries to improve customer satisfaction.</a:t>
            </a:r>
          </a:p>
          <a:p>
            <a:pPr marL="457200" lvl="0" indent="-457200">
              <a:lnSpc>
                <a:spcPts val="397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spc="9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Promote top-selling products like Sports, Auto, and Toys.</a:t>
            </a:r>
          </a:p>
          <a:p>
            <a:pPr marL="457200" lvl="0" indent="-457200">
              <a:lnSpc>
                <a:spcPts val="397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spc="9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Give more attention to top cities like São Paulo and Rio to increase sales.</a:t>
            </a:r>
          </a:p>
          <a:p>
            <a:pPr marL="457200" lvl="0" indent="-457200">
              <a:lnSpc>
                <a:spcPts val="397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spc="9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Encourage credit card payments, since they bring the highest revenue.</a:t>
            </a:r>
          </a:p>
          <a:p>
            <a:pPr marL="457200" lvl="0" indent="-457200">
              <a:lnSpc>
                <a:spcPts val="397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spc="9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Monitor sales regularly (monthly &amp; quarterly) to plan better.</a:t>
            </a:r>
          </a:p>
        </p:txBody>
      </p:sp>
    </p:spTree>
    <p:extLst>
      <p:ext uri="{BB962C8B-B14F-4D97-AF65-F5344CB8AC3E}">
        <p14:creationId xmlns:p14="http://schemas.microsoft.com/office/powerpoint/2010/main" val="2918021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D44A-B219-7D32-6175-ECBC8610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7DFE6F-F5DD-907F-4A65-DF66731BAADB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9E40BFD-E345-D5F1-1DE4-1020A2899B17}"/>
              </a:ext>
            </a:extLst>
          </p:cNvPr>
          <p:cNvSpPr/>
          <p:nvPr/>
        </p:nvSpPr>
        <p:spPr>
          <a:xfrm>
            <a:off x="-3924144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5CEA9B1-5435-6452-45D8-5DCFD56ED6D1}"/>
              </a:ext>
            </a:extLst>
          </p:cNvPr>
          <p:cNvSpPr/>
          <p:nvPr/>
        </p:nvSpPr>
        <p:spPr>
          <a:xfrm>
            <a:off x="15201006" y="-1416307"/>
            <a:ext cx="4116588" cy="3555235"/>
          </a:xfrm>
          <a:custGeom>
            <a:avLst/>
            <a:gdLst/>
            <a:ahLst/>
            <a:cxnLst/>
            <a:rect l="l" t="t" r="r" b="b"/>
            <a:pathLst>
              <a:path w="4116588" h="3555235">
                <a:moveTo>
                  <a:pt x="0" y="0"/>
                </a:moveTo>
                <a:lnTo>
                  <a:pt x="4116588" y="0"/>
                </a:lnTo>
                <a:lnTo>
                  <a:pt x="4116588" y="3555235"/>
                </a:lnTo>
                <a:lnTo>
                  <a:pt x="0" y="3555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AA85226-8739-1245-3100-0011063490D0}"/>
              </a:ext>
            </a:extLst>
          </p:cNvPr>
          <p:cNvSpPr/>
          <p:nvPr/>
        </p:nvSpPr>
        <p:spPr>
          <a:xfrm>
            <a:off x="12018451" y="434520"/>
            <a:ext cx="4116588" cy="3555235"/>
          </a:xfrm>
          <a:custGeom>
            <a:avLst/>
            <a:gdLst/>
            <a:ahLst/>
            <a:cxnLst/>
            <a:rect l="l" t="t" r="r" b="b"/>
            <a:pathLst>
              <a:path w="4116588" h="3555235">
                <a:moveTo>
                  <a:pt x="0" y="0"/>
                </a:moveTo>
                <a:lnTo>
                  <a:pt x="4116589" y="0"/>
                </a:lnTo>
                <a:lnTo>
                  <a:pt x="4116589" y="3555235"/>
                </a:lnTo>
                <a:lnTo>
                  <a:pt x="0" y="3555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FDDF99B-3C2E-1DFD-D35A-CD13CDBA1AEF}"/>
              </a:ext>
            </a:extLst>
          </p:cNvPr>
          <p:cNvSpPr/>
          <p:nvPr/>
        </p:nvSpPr>
        <p:spPr>
          <a:xfrm>
            <a:off x="15290018" y="2222330"/>
            <a:ext cx="4116588" cy="3555235"/>
          </a:xfrm>
          <a:custGeom>
            <a:avLst/>
            <a:gdLst/>
            <a:ahLst/>
            <a:cxnLst/>
            <a:rect l="l" t="t" r="r" b="b"/>
            <a:pathLst>
              <a:path w="4116588" h="3555235">
                <a:moveTo>
                  <a:pt x="0" y="0"/>
                </a:moveTo>
                <a:lnTo>
                  <a:pt x="4116588" y="0"/>
                </a:lnTo>
                <a:lnTo>
                  <a:pt x="4116588" y="3555236"/>
                </a:lnTo>
                <a:lnTo>
                  <a:pt x="0" y="35552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140D04-CBF9-352E-CB09-F20540BBEA88}"/>
              </a:ext>
            </a:extLst>
          </p:cNvPr>
          <p:cNvSpPr txBox="1"/>
          <p:nvPr/>
        </p:nvSpPr>
        <p:spPr>
          <a:xfrm>
            <a:off x="6154497" y="6682063"/>
            <a:ext cx="6981011" cy="57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76"/>
              </a:lnSpc>
              <a:spcBef>
                <a:spcPct val="0"/>
              </a:spcBef>
            </a:pPr>
            <a:r>
              <a:rPr lang="en-US" sz="3458" spc="96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for watching this presentation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51F4AE5-1A56-4956-D423-641A783CAEA3}"/>
              </a:ext>
            </a:extLst>
          </p:cNvPr>
          <p:cNvSpPr txBox="1"/>
          <p:nvPr/>
        </p:nvSpPr>
        <p:spPr>
          <a:xfrm>
            <a:off x="3452932" y="4901450"/>
            <a:ext cx="8349793" cy="164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3"/>
              </a:lnSpc>
              <a:spcBef>
                <a:spcPct val="0"/>
              </a:spcBef>
            </a:pPr>
            <a:r>
              <a:rPr lang="en-US" sz="10124" b="1" spc="28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0415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248</Words>
  <Application>Microsoft Office PowerPoint</Application>
  <PresentationFormat>Custom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Codec Pro</vt:lpstr>
      <vt:lpstr>Codec Pro Bold</vt:lpstr>
      <vt:lpstr>Arial</vt:lpstr>
      <vt:lpstr>TT Drugs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Goals</dc:title>
  <cp:lastModifiedBy>Riya Talele</cp:lastModifiedBy>
  <cp:revision>3</cp:revision>
  <dcterms:created xsi:type="dcterms:W3CDTF">2006-08-16T00:00:00Z</dcterms:created>
  <dcterms:modified xsi:type="dcterms:W3CDTF">2026-06-15T18:03:56Z</dcterms:modified>
  <dc:identifier>DAG5thjNWzI</dc:identifier>
</cp:coreProperties>
</file>